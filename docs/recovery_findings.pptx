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recovery</c:v>
                </c:pt>
              </c:strCache>
            </c:strRef>
          </c:tx>
          <c:spPr>
            <a:solidFill>
              <a:srgbClr val="C77A1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6B7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Prologis</c:v>
                  </c:pt>
                  <c:pt idx="1">
                    <c:v>NextEra</c:v>
                  </c:pt>
                  <c:pt idx="2">
                    <c:v>Exxon</c:v>
                  </c:pt>
                  <c:pt idx="3">
                    <c:v>Duke</c:v>
                  </c:pt>
                  <c:pt idx="4">
                    <c:v>Union Pac</c:v>
                  </c:pt>
                  <c:pt idx="5">
                    <c:v>Charter</c:v>
                  </c:pt>
                  <c:pt idx="6">
                    <c:v>Ford</c:v>
                  </c:pt>
                  <c:pt idx="7">
                    <c:v>Kroger</c:v>
                  </c:pt>
                  <c:pt idx="8">
                    <c:v>CVS</c:v>
                  </c:pt>
                  <c:pt idx="9">
                    <c:v>Pfizer</c:v>
                  </c:pt>
                  <c:pt idx="10">
                    <c:v>Oracle</c:v>
                  </c:pt>
                  <c:pt idx="11">
                    <c:v>Citigroup</c:v>
                  </c:pt>
                  <c:pt idx="12">
                    <c:v>JPMorgan</c:v>
                  </c:pt>
                  <c:pt idx="13">
                    <c:v>Bank of Am</c:v>
                  </c:pt>
                  <c:pt idx="14">
                    <c:v>Wells Fargo</c:v>
                  </c:pt>
                  <c:pt idx="15">
                    <c:v>US Bancorp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74.6</c:v>
                </c:pt>
                <c:pt idx="1">
                  <c:v>51.8</c:v>
                </c:pt>
                <c:pt idx="2">
                  <c:v>51.2</c:v>
                </c:pt>
                <c:pt idx="3">
                  <c:v>50.1</c:v>
                </c:pt>
                <c:pt idx="4">
                  <c:v>49.4</c:v>
                </c:pt>
                <c:pt idx="5">
                  <c:v>47.3</c:v>
                </c:pt>
                <c:pt idx="6">
                  <c:v>43.2</c:v>
                </c:pt>
                <c:pt idx="7">
                  <c:v>42.7</c:v>
                </c:pt>
                <c:pt idx="8">
                  <c:v>39.8</c:v>
                </c:pt>
                <c:pt idx="9">
                  <c:v>38.9</c:v>
                </c:pt>
                <c:pt idx="10">
                  <c:v>31.6</c:v>
                </c:pt>
                <c:pt idx="11">
                  <c:v>24.2</c:v>
                </c:pt>
                <c:pt idx="12">
                  <c:v>23.6</c:v>
                </c:pt>
                <c:pt idx="13">
                  <c:v>23.2</c:v>
                </c:pt>
                <c:pt idx="14">
                  <c:v>22.8</c:v>
                </c:pt>
                <c:pt idx="15">
                  <c:v>21.7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5B6B7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1628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0"/>
        <c:axPos val="l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 change</c:v>
                </c:pt>
              </c:strCache>
            </c:strRef>
          </c:tx>
          <c:spPr>
            <a:solidFill>
              <a:srgbClr val="1628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83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Prologis</c:v>
                  </c:pt>
                  <c:pt idx="1">
                    <c:v>NextEra</c:v>
                  </c:pt>
                  <c:pt idx="2">
                    <c:v>Union Pac</c:v>
                  </c:pt>
                  <c:pt idx="3">
                    <c:v>Duke</c:v>
                  </c:pt>
                  <c:pt idx="4">
                    <c:v>Exxon</c:v>
                  </c:pt>
                  <c:pt idx="5">
                    <c:v>Oracle</c:v>
                  </c:pt>
                  <c:pt idx="6">
                    <c:v>CVS</c:v>
                  </c:pt>
                  <c:pt idx="7">
                    <c:v>Pfizer</c:v>
                  </c:pt>
                  <c:pt idx="8">
                    <c:v>JPMorgan</c:v>
                  </c:pt>
                  <c:pt idx="9">
                    <c:v>US Bancorp</c:v>
                  </c:pt>
                  <c:pt idx="10">
                    <c:v>Bank of Am</c:v>
                  </c:pt>
                  <c:pt idx="11">
                    <c:v>Wells Fargo</c:v>
                  </c:pt>
                  <c:pt idx="12">
                    <c:v>Citigroup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-10</c:v>
                </c:pt>
                <c:pt idx="1">
                  <c:v>-5</c:v>
                </c:pt>
                <c:pt idx="2">
                  <c:v>-4</c:v>
                </c:pt>
                <c:pt idx="3">
                  <c:v>-4</c:v>
                </c:pt>
                <c:pt idx="4">
                  <c:v>-3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  <c:pt idx="9">
                  <c:v>4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283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8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-12"/>
        </c:scaling>
        <c:delete val="0"/>
        <c:axPos val="b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finding, not a tool demo. The finding is that the market-standard 40% recovery assumption introduces a systematic, one-directional bias when comparing bank credit against non-financial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40% convention is defensible as a convention. It is indefensible as an estimate, and bank holdcos are the clearest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theoretical point. It is not a modelling weakness — it is an identification failure, and it is provable.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this is a trade, not a free improvement. You gain discrimination and you lose robustness to the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B is the theoretically cleanest but restricts the universe to a handful of liquid names, which defeats a 20-name cross-section.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deck exists for. Everything before it is setup; everything after is evidence and caveats.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74520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Endogenous Recovery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88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flat 40% convention in CDS-implied default probabilities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3611880"/>
            <a:ext cx="3108960" cy="0"/>
          </a:xfrm>
          <a:prstGeom prst="line">
            <a:avLst/>
          </a:prstGeom>
          <a:noFill/>
          <a:ln w="25400">
            <a:solidFill>
              <a:srgbClr val="C77A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3858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 Sundaresan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187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analytics  ·  August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issuers  ·  10 sectors  ·  104 tests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issuer is assumed to recover 40 cents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CDS spread compensates for expected loss. Converting a spread into a default probability requires knowing how much is lost per default — the recovery rate.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convention assigns 40% to every senior unsecured issuer. It is a quoting convention that makes spreads comparable. It is not an estimate of anything.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691640"/>
            <a:ext cx="2286000" cy="1600200"/>
          </a:xfrm>
          <a:prstGeom prst="roundRect">
            <a:avLst>
              <a:gd name="adj" fmla="val 3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50608" y="183794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50608" y="2093976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266090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18320" y="1691640"/>
            <a:ext cx="2194560" cy="1600200"/>
          </a:xfrm>
          <a:prstGeom prst="roundRect">
            <a:avLst>
              <a:gd name="adj" fmla="val 3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19488" y="183794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LEHMAN 2008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19488" y="209397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9619488" y="266090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11055096" cy="1600200"/>
          </a:xfrm>
          <a:prstGeom prst="roundRect">
            <a:avLst>
              <a:gd name="adj" fmla="val 3429"/>
            </a:avLst>
          </a:prstGeom>
          <a:solidFill>
            <a:srgbClr val="16283C"/>
          </a:solidFill>
          <a:ln w="12700">
            <a:solidFill>
              <a:srgbClr val="1628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43708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first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4700016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Single-name bank CDS references the holding company. Under Title II resolution, holdco senior unsecured is TLAC — it exists to be written down so the operating subsidiaries survive. Its recovery is low by design, not by accident.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equation, two unknowns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55096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993392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 ≈  hazard rate  ×  ( 1 − recovery )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918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 identifies expected loss — the product. It cannot separate the two terms. For any recovery you assume, there exists a hazard rate that reproduces the quoted spread exactly.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206240"/>
            <a:ext cx="11055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C77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is not identified from spreads. Assuming 40% does not solve this — it fixes one unknown by fiat.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66928" y="5074920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5248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51937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is underdetermined — and no amount of CDS data closes it.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assumptions fit the data perfectly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459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five-tenor quote set, bootstrapped twice.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551176"/>
                <a:gridCol w="255117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 recovery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Repricing error (relative)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4.4e-16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4.4e-16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5Y default probability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C77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ratio vs the 40%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across names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28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572000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47731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reprice to machine precision. The hazards differ by exactly (1−0.40)/(1−0.20) = 0.75. This is the identification failure made visible, and it is covered by a regression test.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Quotes: 1/3/5/7/10Y at 55/82/105/118/130bp. Repricing error is the maximum across all five tenors.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COMPENSATION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flat assumption survived scrutiny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642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uniform recovery, the implied hazard is a strictly monotone transform of the spread: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860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 =  s / ( 1 − R )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71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ranking of implied default probabilities does not depend on the recovery assumption at all. Levels move; order does not.</a:t>
            </a: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endParaRPr lang="en-US" sz="15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conclusions drawn at a flat 40% have been defensible despite resting on an unobserved input.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80960" y="173736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82128" y="188366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UNIFORM RECOVERY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82128" y="2139696"/>
            <a:ext cx="3529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invariant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680960" y="3337560"/>
            <a:ext cx="3931920" cy="2103120"/>
          </a:xfrm>
          <a:prstGeom prst="roundRect">
            <a:avLst>
              <a:gd name="adj" fmla="val 2609"/>
            </a:avLst>
          </a:prstGeom>
          <a:solidFill>
            <a:srgbClr val="16283C"/>
          </a:solidFill>
          <a:ln w="12700">
            <a:solidFill>
              <a:srgbClr val="1628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100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we give up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8862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Name-specific recovery breaks that invariance. The ranking starts carrying an analytical view rather than restating the spreads.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break the identification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1298448"/>
          </a:xfrm>
          <a:prstGeom prst="roundRect">
            <a:avLst>
              <a:gd name="adj" fmla="val 4225"/>
            </a:avLst>
          </a:prstGeom>
          <a:solidFill>
            <a:srgbClr val="E8F1ED"/>
          </a:solidFill>
          <a:ln w="19050">
            <a:solidFill>
              <a:srgbClr val="2E7D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75688"/>
            <a:ext cx="530352" cy="530352"/>
          </a:xfrm>
          <a:prstGeom prst="ellipse">
            <a:avLst/>
          </a:prstGeom>
          <a:solidFill>
            <a:srgbClr val="2E7D64"/>
          </a:solidFill>
          <a:ln w="12700">
            <a:solidFill>
              <a:srgbClr val="2E7D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6712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11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model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26771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recovery from seniority, sector, debt cushion, leverage, cycle. Nothing reads a spread — no circularity.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253728" y="2194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136392"/>
            <a:ext cx="11055096" cy="1298448"/>
          </a:xfrm>
          <a:prstGeom prst="roundRect">
            <a:avLst>
              <a:gd name="adj" fmla="val 42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520440"/>
            <a:ext cx="530352" cy="530352"/>
          </a:xfrm>
          <a:prstGeom prst="ellipse">
            <a:avLst/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361188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55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instrument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71246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vs subordinated CDS gives two equations. Market-implied, but subordinated quotes are thin to absent for most names.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253728" y="3639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581144"/>
            <a:ext cx="11055096" cy="1298448"/>
          </a:xfrm>
          <a:prstGeom prst="roundRect">
            <a:avLst>
              <a:gd name="adj" fmla="val 42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965192"/>
            <a:ext cx="530352" cy="530352"/>
          </a:xfrm>
          <a:prstGeom prst="ellipse">
            <a:avLst/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505663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8006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blend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515721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as prior, market as likelihood. Correct long-run architecture; premature without a fitted prior.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5084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logit-linear recovery scorecard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=  1 / ( 1 + 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898648" y="18653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−z ),      z  =  β₀ + β_seniority + β_tangibility + β_cushion − β_leverage + β_cycle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2491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logistic link keeps recovery strictly inside (0,1) for any input. The bootstrap divides by (1−R), so a prediction of exactly 1.0 would be a division by zero.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575304"/>
            <a:ext cx="128016" cy="128016"/>
          </a:xfrm>
          <a:prstGeom prst="ellipse">
            <a:avLst/>
          </a:prstGeom>
          <a:solidFill>
            <a:srgbClr val="C77A1C"/>
          </a:solidFill>
          <a:ln w="12700">
            <a:solidFill>
              <a:srgbClr val="C77A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3502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350215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driver. Secured recovers most, junior subordinated least.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050792"/>
            <a:ext cx="128016" cy="128016"/>
          </a:xfrm>
          <a:prstGeom prst="ellipse">
            <a:avLst/>
          </a:prstGeom>
          <a:solidFill>
            <a:srgbClr val="C77A1C"/>
          </a:solidFill>
          <a:ln w="12700">
            <a:solidFill>
              <a:srgbClr val="C77A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Tangibility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39776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assets survive bankruptcy. Utilities recover far more than software.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526280"/>
            <a:ext cx="128016" cy="128016"/>
          </a:xfrm>
          <a:prstGeom prst="ellipse">
            <a:avLst/>
          </a:prstGeom>
          <a:solidFill>
            <a:srgbClr val="C77A1C"/>
          </a:solidFill>
          <a:ln w="12700">
            <a:solidFill>
              <a:srgbClr val="C77A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cushion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70048" y="445312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debt absorbs losses first, lifting the senior claim.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5001768"/>
            <a:ext cx="128016" cy="128016"/>
          </a:xfrm>
          <a:prstGeom prst="ellipse">
            <a:avLst/>
          </a:prstGeom>
          <a:solidFill>
            <a:srgbClr val="C77A1C"/>
          </a:solidFill>
          <a:ln w="12700">
            <a:solidFill>
              <a:srgbClr val="C77A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4928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70048" y="492861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asset value per unit of claim.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5477256"/>
            <a:ext cx="128016" cy="128016"/>
          </a:xfrm>
          <a:prstGeom prst="ellipse">
            <a:avLst/>
          </a:prstGeom>
          <a:solidFill>
            <a:srgbClr val="C77A1C"/>
          </a:solidFill>
          <a:ln w="12700">
            <a:solidFill>
              <a:srgbClr val="C77A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54041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cycle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670048" y="5404104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Recoveries fall in downturns — correlated with default, when it hurts.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276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calibrated to published anchors, not estimated from a recovery database. See limitations.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recovery spans 22% to 75%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600200"/>
          <a:ext cx="7680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73736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05088" y="1883664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SAYS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705088" y="213969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705088" y="270662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one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324612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05088" y="3392424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RANGE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705088" y="364845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22–75%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705088" y="421538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53-point spread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bank sits below 25%. Every secured or asset-heavy credit sits above 47%.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of 20 issuers change rank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600200"/>
          <a:ext cx="7680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41248" y="5806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looks riskier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5806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safer →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03920" y="173736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05088" y="1883664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CHANGED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705088" y="213969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20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705088" y="270662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503920" y="3246120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FBF1E3"/>
          </a:solidFill>
          <a:ln w="12700">
            <a:solidFill>
              <a:srgbClr val="FBF1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05088" y="3392424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MOVE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705088" y="364845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705088" y="4215384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(Prologis)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bank moves toward safer. Every asset-heavy credit moves toward riskier. The direction is systematic, not noise.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one-basis-point difference reverses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5349240" cy="3017520"/>
          </a:xfrm>
          <a:prstGeom prst="roundRect">
            <a:avLst>
              <a:gd name="adj" fmla="val 181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9019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Prologis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286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Secured, real estate  ·  57bp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651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74.6%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3017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default costs little, so the same 57bp requires far more of them.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37947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6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4.68%   →   10.72%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42976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5Y default probability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257800" cy="3017520"/>
          </a:xfrm>
          <a:prstGeom prst="roundRect">
            <a:avLst>
              <a:gd name="adj" fmla="val 1818"/>
            </a:avLst>
          </a:prstGeom>
          <a:solidFill>
            <a:srgbClr val="16283C"/>
          </a:solidFill>
          <a:ln w="12700">
            <a:solidFill>
              <a:srgbClr val="1628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19019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JPMorgan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2860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Holdco senior, TLAC  ·  58bp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65176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23.6%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0175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default is expensive, so the same spread requires fewer of them.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7947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D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4.76%   →   3.76%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2976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5Y default probability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98348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basis point apart in spread. Under the flat convention they price almost identically. Under modelled recovery, one implies nearly three times the default risk of the other.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flat 40% convention systematically overstates implied default probabilities for bank holding companies relative to asset-heavy credits.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947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assigns bank holdco senior a recovery roughly sixteen points above what its position in the resolution hierarchy implies. Any cross-sector credit ranking computed at a flat 40% inherits that bias — and the bias runs one direction, so it does not wash out across a portfolio.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RUNS 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CDS engine built and validated from first principles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6420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Hazard-rate bootstrapping from quoted spreads, both legs priced by exact closed-form integration, CS01 / IR DV01 / jump-to-default. Derived before coded, validated against no-arbitrage conditions and independently against QuantLib.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743200"/>
            <a:ext cx="2615184" cy="1691640"/>
          </a:xfrm>
          <a:prstGeom prst="roundRect">
            <a:avLst>
              <a:gd name="adj" fmla="val 32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88950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1455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328416" y="2743200"/>
            <a:ext cx="2615184" cy="1691640"/>
          </a:xfrm>
          <a:prstGeom prst="roundRect">
            <a:avLst>
              <a:gd name="adj" fmla="val 32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288950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QUANTLIB PARITY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31455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1e-12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37124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9904" y="2743200"/>
            <a:ext cx="2615184" cy="1691640"/>
          </a:xfrm>
          <a:prstGeom prst="roundRect">
            <a:avLst>
              <a:gd name="adj" fmla="val 32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1072" y="288950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REPRICING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31455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4.4e-16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37124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ULP of a float64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51392" y="2743200"/>
            <a:ext cx="2615184" cy="1691640"/>
          </a:xfrm>
          <a:prstGeom prst="roundRect">
            <a:avLst>
              <a:gd name="adj" fmla="val 32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0" y="288950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DOCUMENTED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145536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71246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diagnoses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754880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E8F1ED"/>
          </a:solidFill>
          <a:ln w="19050">
            <a:solidFill>
              <a:srgbClr val="2E7D6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95604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recovery model required no change to any pricing code. The bootstrap already accepted recovery as an argument — all 86 pre-existing tests passed unmodified.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yet establish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55096" cy="987552"/>
          </a:xfrm>
          <a:prstGeom prst="roundRect">
            <a:avLst>
              <a:gd name="adj" fmla="val 4630"/>
            </a:avLst>
          </a:prstGeom>
          <a:solidFill>
            <a:srgbClr val="FAECEA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8379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Calibrated, not estimated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90288" y="181965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set to published anchors, not fitted to a recovery database. There is no out-of-sample validation because there is no sample.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788920"/>
            <a:ext cx="11055096" cy="987552"/>
          </a:xfrm>
          <a:prstGeom prst="roundRect">
            <a:avLst>
              <a:gd name="adj" fmla="val 463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29352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recovery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91693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a point estimate with a band; the bootstrap consumes only the point. Real recovery is stochastic and correlated with default.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886200"/>
            <a:ext cx="11055096" cy="987552"/>
          </a:xfrm>
          <a:prstGeom prst="roundRect">
            <a:avLst>
              <a:gd name="adj" fmla="val 463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4032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sector proxy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401421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tangibility number per sector ignores wide within-sector dispersion.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11055096" cy="987552"/>
          </a:xfrm>
          <a:prstGeom prst="roundRect">
            <a:avLst>
              <a:gd name="adj" fmla="val 463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5129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jurisdiction effect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511149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11, UK administration and European insolvency codes differ materially. Not modelled.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 between calibrated and estimated is the first thing an experienced credit analyst will probe. It is stated four times in the design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42416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713232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calibrated to estimated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64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7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7099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auction settlement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87568" y="170992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two decades, several hundred defaults. Moves the headline claim from calibrated to estimated with a stated out-of-sample error.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697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6426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/ subordinated basis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87568" y="264261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Market-implied recovery for names with both quoted. Identification without a model.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6301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5753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combination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87568" y="357530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prior updated by market likelihood where available.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5628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507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recovery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87568" y="450799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Recovery-default correlation. Required for portfolio work.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486400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16283C"/>
          </a:solidFill>
          <a:ln w="12700">
            <a:solidFill>
              <a:srgbClr val="1628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568756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step: credit-event auction settlement prices are public and sufficient to fit the model properly.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55448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77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574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CDS spread cannot tell you both how often a company defaults and how much you lose when it does — so assuming the second determines the first.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4114800"/>
            <a:ext cx="3108960" cy="0"/>
          </a:xfrm>
          <a:prstGeom prst="line">
            <a:avLst/>
          </a:prstGeom>
          <a:noFill/>
          <a:ln w="25400">
            <a:solidFill>
              <a:srgbClr val="C77A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43891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 Sundaresan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54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specification, methodology and implementation available in full.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Endogenous Recovery in CDS-Implied Default Probabilities</dc:title>
  <dc:subject>PptxGenJS Presentation</dc:subject>
  <dc:creator>Shreyas Sundaresan</dc:creator>
  <cp:lastModifiedBy>Shreyas Sundaresan</cp:lastModifiedBy>
  <cp:revision>1</cp:revision>
  <dcterms:created xsi:type="dcterms:W3CDTF">2026-08-28T23:10:46Z</dcterms:created>
  <dcterms:modified xsi:type="dcterms:W3CDTF">2026-08-28T23:10:46Z</dcterms:modified>
</cp:coreProperties>
</file>